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8F74DC-8F67-4CA8-BED2-4687589B26F7}">
  <a:tblStyle styleId="{4C8F74DC-8F67-4CA8-BED2-4687589B26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760" y="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4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f3b06d8d8_9_0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ef3b06d8d8_9_0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f3b06d8d8_9_0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8fc6496df_0_2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8fc6496df_0_2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8fc6496df_0_2:notes"/>
          <p:cNvSpPr txBox="1"/>
          <p:nvPr>
            <p:ph idx="12" type="sldNum"/>
          </p:nvPr>
        </p:nvSpPr>
        <p:spPr>
          <a:xfrm>
            <a:off x="3884760" y="11580840"/>
            <a:ext cx="2971800" cy="61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/>
          <p:nvPr>
            <p:ph idx="2" type="sldImg"/>
          </p:nvPr>
        </p:nvSpPr>
        <p:spPr>
          <a:xfrm>
            <a:off x="-228600" y="152388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16:notes"/>
          <p:cNvSpPr txBox="1"/>
          <p:nvPr>
            <p:ph idx="1"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6:notes"/>
          <p:cNvSpPr txBox="1"/>
          <p:nvPr/>
        </p:nvSpPr>
        <p:spPr>
          <a:xfrm>
            <a:off x="3884760" y="11580840"/>
            <a:ext cx="2971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hyperlink" Target="https://lucila-libutzki.github.io/Seminario1TFG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9" name="Google Shape;79;p14"/>
            <p:cNvSpPr/>
            <p:nvPr/>
          </p:nvSpPr>
          <p:spPr>
            <a:xfrm>
              <a:off x="0" y="0"/>
              <a:ext cx="12192000" cy="6858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24B5C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0" y="0"/>
              <a:ext cx="12192000" cy="68580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4B5C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82" name="Google Shape;82;p14"/>
          <p:cNvGrpSpPr/>
          <p:nvPr/>
        </p:nvGrpSpPr>
        <p:grpSpPr>
          <a:xfrm>
            <a:off x="1333500" y="1524000"/>
            <a:ext cx="9525000" cy="2857500"/>
            <a:chOff x="0" y="0"/>
            <a:chExt cx="9525000" cy="2857500"/>
          </a:xfrm>
        </p:grpSpPr>
        <p:sp>
          <p:nvSpPr>
            <p:cNvPr id="83" name="Google Shape;83;p14"/>
            <p:cNvSpPr txBox="1"/>
            <p:nvPr/>
          </p:nvSpPr>
          <p:spPr>
            <a:xfrm>
              <a:off x="0" y="0"/>
              <a:ext cx="952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SEMINARIO EN CIENCIA DE DATOS I · 1.º C 2026</a:t>
              </a:r>
              <a:endParaRPr b="0" sz="14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0" y="476250"/>
              <a:ext cx="9525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Análisis y predicción del abandono de clientes en banca minorista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0" y="2286000"/>
              <a:ext cx="95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200">
                  <a:solidFill>
                    <a:srgbClr val="2A9D8F"/>
                  </a:solidFill>
                  <a:latin typeface="Calibri"/>
                  <a:ea typeface="Calibri"/>
                  <a:cs typeface="Calibri"/>
                  <a:sym typeface="Calibri"/>
                </a:rPr>
                <a:t>mediante técnicas de clasificación e inteligencia artificial explicable</a:t>
              </a:r>
              <a:endParaRPr b="0" i="1" sz="22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14"/>
          <p:cNvSpPr/>
          <p:nvPr/>
        </p:nvSpPr>
        <p:spPr>
          <a:xfrm>
            <a:off x="4953000" y="4572000"/>
            <a:ext cx="2286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4"/>
          <p:cNvGrpSpPr/>
          <p:nvPr/>
        </p:nvGrpSpPr>
        <p:grpSpPr>
          <a:xfrm>
            <a:off x="1333500" y="4857750"/>
            <a:ext cx="9525000" cy="904875"/>
            <a:chOff x="0" y="0"/>
            <a:chExt cx="9525000" cy="904875"/>
          </a:xfrm>
        </p:grpSpPr>
        <p:sp>
          <p:nvSpPr>
            <p:cNvPr id="88" name="Google Shape;88;p14"/>
            <p:cNvSpPr txBox="1"/>
            <p:nvPr/>
          </p:nvSpPr>
          <p:spPr>
            <a:xfrm>
              <a:off x="0" y="0"/>
              <a:ext cx="952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Frati, Gianluca · Libutzki, Lucila · Suárez, Dante</a:t>
              </a:r>
              <a:endParaRPr b="0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0" y="523875"/>
              <a:ext cx="952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Docente: Ing. Fabiana B. Taboada — Universidad CAECE</a:t>
              </a:r>
              <a:endParaRPr b="0" sz="16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4"/>
          <p:cNvSpPr txBox="1"/>
          <p:nvPr/>
        </p:nvSpPr>
        <p:spPr>
          <a:xfrm>
            <a:off x="542925" y="643890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sz="1000">
              <a:solidFill>
                <a:srgbClr val="9DB6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548640" y="6446520"/>
            <a:ext cx="8229600" cy="274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571500" y="381000"/>
            <a:ext cx="110490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El problema: la fuga de clientes</a:t>
            </a:r>
            <a:endParaRPr b="1" sz="36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15"/>
          <p:cNvGrpSpPr/>
          <p:nvPr/>
        </p:nvGrpSpPr>
        <p:grpSpPr>
          <a:xfrm>
            <a:off x="571500" y="1333500"/>
            <a:ext cx="11049000" cy="2476500"/>
            <a:chOff x="0" y="0"/>
            <a:chExt cx="11049000" cy="2476500"/>
          </a:xfrm>
        </p:grpSpPr>
        <p:sp>
          <p:nvSpPr>
            <p:cNvPr id="100" name="Google Shape;100;p15"/>
            <p:cNvSpPr txBox="1"/>
            <p:nvPr/>
          </p:nvSpPr>
          <p:spPr>
            <a:xfrm>
              <a:off x="0" y="0"/>
              <a:ext cx="723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Retener un cliente cuesta mucho menos que captar uno nuevo.</a:t>
              </a:r>
              <a:endParaRPr b="1" sz="24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Anticipar qué clientes están por irse permite orientar acciones de retención y fidelización de forma eficiente.</a:t>
              </a:r>
              <a:endParaRPr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Buscamos caracterizar y predecir ese abandono a partir de datos sociodemográficos y de comportamiento.</a:t>
              </a:r>
              <a:endParaRPr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" name="Google Shape;101;p15"/>
            <p:cNvGrpSpPr/>
            <p:nvPr/>
          </p:nvGrpSpPr>
          <p:grpSpPr>
            <a:xfrm>
              <a:off x="7810500" y="0"/>
              <a:ext cx="3238500" cy="2286000"/>
              <a:chOff x="0" y="0"/>
              <a:chExt cx="3238500" cy="2286000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0" y="0"/>
                <a:ext cx="3238500" cy="2286000"/>
              </a:xfrm>
              <a:prstGeom prst="roundRect">
                <a:avLst>
                  <a:gd fmla="val 6250" name="adj"/>
                </a:avLst>
              </a:prstGeom>
              <a:solidFill>
                <a:srgbClr val="0E3D4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5"/>
              <p:cNvSpPr txBox="1"/>
              <p:nvPr/>
            </p:nvSpPr>
            <p:spPr>
              <a:xfrm>
                <a:off x="0" y="0"/>
                <a:ext cx="32385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4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~20%</a:t>
                </a:r>
                <a:endParaRPr b="1" sz="6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9DB6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 los clientes abandona la entidad</a:t>
                </a:r>
                <a:endParaRPr sz="16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" name="Google Shape;104;p15"/>
          <p:cNvGrpSpPr/>
          <p:nvPr/>
        </p:nvGrpSpPr>
        <p:grpSpPr>
          <a:xfrm>
            <a:off x="571500" y="4191000"/>
            <a:ext cx="11049000" cy="1714500"/>
            <a:chOff x="0" y="0"/>
            <a:chExt cx="11049000" cy="1714500"/>
          </a:xfrm>
        </p:grpSpPr>
        <p:sp>
          <p:nvSpPr>
            <p:cNvPr id="105" name="Google Shape;105;p15"/>
            <p:cNvSpPr/>
            <p:nvPr/>
          </p:nvSpPr>
          <p:spPr>
            <a:xfrm>
              <a:off x="0" y="0"/>
              <a:ext cx="11049000" cy="1714500"/>
            </a:xfrm>
            <a:prstGeom prst="roundRect">
              <a:avLst>
                <a:gd fmla="val 8333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0" y="0"/>
              <a:ext cx="114300" cy="1714500"/>
            </a:xfrm>
            <a:prstGeom prst="roundRect">
              <a:avLst>
                <a:gd fmla="val 50000" name="adj"/>
              </a:avLst>
            </a:pr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381000" y="0"/>
              <a:ext cx="1028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76F51"/>
                  </a:solidFill>
                  <a:latin typeface="Calibri"/>
                  <a:ea typeface="Calibri"/>
                  <a:cs typeface="Calibri"/>
                  <a:sym typeface="Calibri"/>
                </a:rPr>
                <a:t>Pregunta investigable</a:t>
              </a:r>
              <a:endParaRPr b="1" sz="24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-US" sz="20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¿Qué variables se relacionan con una mayor probabilidad de abandono, y en qué medida un modelo básico permite anticiparlo?</a:t>
              </a:r>
              <a:endParaRPr b="0" i="1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548640" y="6446520"/>
            <a:ext cx="8229600" cy="274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71500" y="381000"/>
            <a:ext cx="110490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Hipótesis y objetivos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571500" y="1238250"/>
            <a:ext cx="5334000" cy="1524000"/>
            <a:chOff x="0" y="0"/>
            <a:chExt cx="5334000" cy="15240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5334000" cy="1524000"/>
            </a:xfrm>
            <a:prstGeom prst="roundRect">
              <a:avLst>
                <a:gd fmla="val 6250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0" y="0"/>
              <a:ext cx="5334000" cy="1524000"/>
            </a:xfrm>
            <a:prstGeom prst="roundRect">
              <a:avLst>
                <a:gd fmla="val 625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667A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190500" y="190500"/>
              <a:ext cx="76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667A85"/>
                  </a:solidFill>
                  <a:latin typeface="Calibri"/>
                  <a:ea typeface="Calibri"/>
                  <a:cs typeface="Calibri"/>
                  <a:sym typeface="Calibri"/>
                </a:rPr>
                <a:t>H₀</a:t>
              </a:r>
              <a:endParaRPr b="1" sz="3600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1047750" y="190500"/>
              <a:ext cx="4095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Las variables del cliente no presentan relación significativa con el abandono.</a:t>
              </a:r>
              <a:endParaRPr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6286500" y="1238250"/>
            <a:ext cx="5334000" cy="1524000"/>
            <a:chOff x="0" y="0"/>
            <a:chExt cx="5334000" cy="15240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5334000" cy="1524000"/>
            </a:xfrm>
            <a:prstGeom prst="roundRect">
              <a:avLst>
                <a:gd fmla="val 6250" name="adj"/>
              </a:avLst>
            </a:prstGeom>
            <a:solidFill>
              <a:srgbClr val="F0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0"/>
              <a:ext cx="5334000" cy="1524000"/>
            </a:xfrm>
            <a:prstGeom prst="roundRect">
              <a:avLst>
                <a:gd fmla="val 625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190500" y="190500"/>
              <a:ext cx="76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2A9D8F"/>
                  </a:solidFill>
                  <a:latin typeface="Calibri"/>
                  <a:ea typeface="Calibri"/>
                  <a:cs typeface="Calibri"/>
                  <a:sym typeface="Calibri"/>
                </a:rPr>
                <a:t>H₁</a:t>
              </a:r>
              <a:endParaRPr b="1" sz="36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1047750" y="190500"/>
              <a:ext cx="4095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La edad, la actividad, la cantidad de productos y el país sí se relacionan con el abandono y permiten anticiparlo.</a:t>
              </a:r>
              <a:endParaRPr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571500" y="3048000"/>
            <a:ext cx="11049000" cy="1143000"/>
            <a:chOff x="0" y="0"/>
            <a:chExt cx="11049000" cy="11430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1049000" cy="1143000"/>
            </a:xfrm>
            <a:prstGeom prst="roundRect">
              <a:avLst>
                <a:gd fmla="val 8333" name="adj"/>
              </a:avLst>
            </a:prstGeom>
            <a:solidFill>
              <a:srgbClr val="12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285750" y="0"/>
              <a:ext cx="1047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Objetivo</a:t>
              </a:r>
              <a:endPara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Analizar las variables asociadas al abandono e identificar patrones predictivos con un modelo básico, interpretando los resultados mediante IA explicable.</a:t>
              </a:r>
              <a:endParaRPr b="0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571500" y="4572000"/>
            <a:ext cx="11049000" cy="1143000"/>
            <a:chOff x="0" y="0"/>
            <a:chExt cx="11049000" cy="11430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2057400" cy="1143000"/>
            </a:xfrm>
            <a:prstGeom prst="roundRect">
              <a:avLst>
                <a:gd fmla="val 6666" name="adj"/>
              </a:avLst>
            </a:prstGeom>
            <a:solidFill>
              <a:srgbClr val="9DB6B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0" y="0"/>
              <a:ext cx="205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Datos</a:t>
              </a:r>
              <a:endParaRPr b="1" sz="18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16"/>
            <p:cNvGrpSpPr/>
            <p:nvPr/>
          </p:nvGrpSpPr>
          <p:grpSpPr>
            <a:xfrm>
              <a:off x="2247900" y="0"/>
              <a:ext cx="2057400" cy="1143000"/>
              <a:chOff x="0" y="0"/>
              <a:chExt cx="2057400" cy="1143000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0" y="0"/>
                <a:ext cx="20574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1C729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0" y="0"/>
                <a:ext cx="2057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Análisis exploratorio</a:t>
                </a:r>
                <a:endParaRPr b="1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6"/>
            <p:cNvGrpSpPr/>
            <p:nvPr/>
          </p:nvGrpSpPr>
          <p:grpSpPr>
            <a:xfrm>
              <a:off x="4495800" y="0"/>
              <a:ext cx="2057400" cy="1143000"/>
              <a:chOff x="0" y="0"/>
              <a:chExt cx="2057400" cy="1143000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0" y="0"/>
                <a:ext cx="20574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9DB6B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0" y="0"/>
                <a:ext cx="2057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E3D4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Modelo básico</a:t>
                </a:r>
                <a:endParaRPr b="1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16"/>
            <p:cNvGrpSpPr/>
            <p:nvPr/>
          </p:nvGrpSpPr>
          <p:grpSpPr>
            <a:xfrm>
              <a:off x="6743700" y="0"/>
              <a:ext cx="2057400" cy="1143000"/>
              <a:chOff x="0" y="0"/>
              <a:chExt cx="2057400" cy="1143000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0" y="0"/>
                <a:ext cx="20574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1C729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0" y="0"/>
                <a:ext cx="2057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Interpretación</a:t>
                </a:r>
                <a:endParaRPr b="1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16"/>
            <p:cNvGrpSpPr/>
            <p:nvPr/>
          </p:nvGrpSpPr>
          <p:grpSpPr>
            <a:xfrm>
              <a:off x="8991600" y="0"/>
              <a:ext cx="2057400" cy="1143000"/>
              <a:chOff x="0" y="0"/>
              <a:chExt cx="2057400" cy="1143000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0" y="0"/>
                <a:ext cx="20574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9DB6B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 txBox="1"/>
              <p:nvPr/>
            </p:nvSpPr>
            <p:spPr>
              <a:xfrm>
                <a:off x="0" y="0"/>
                <a:ext cx="2057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E3D4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Comunicación</a:t>
                </a:r>
                <a:endParaRPr b="1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548640" y="4069080"/>
            <a:ext cx="11091600" cy="100585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Variable objetivo:  </a:t>
            </a:r>
            <a:r>
              <a:rPr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Exited (abandona = 1 / permanece = 0).    </a:t>
            </a:r>
            <a:endParaRPr i="0" sz="20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Predictoras:  </a:t>
            </a:r>
            <a:r>
              <a:rPr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edad, saldo, puntaje crediticio, antigüedad, salario, cantidad de productos, género, país y actividad.</a:t>
            </a:r>
            <a:endParaRPr i="0" sz="2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1" name="Google Shape;151;p17"/>
          <p:cNvGrpSpPr/>
          <p:nvPr/>
        </p:nvGrpSpPr>
        <p:grpSpPr>
          <a:xfrm>
            <a:off x="571500" y="1809750"/>
            <a:ext cx="11049075" cy="1524000"/>
            <a:chOff x="0" y="0"/>
            <a:chExt cx="11049075" cy="15240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2524200" cy="1524000"/>
            </a:xfrm>
            <a:prstGeom prst="roundRect">
              <a:avLst>
                <a:gd fmla="val 9375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0" y="0"/>
              <a:ext cx="2524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10.000</a:t>
              </a:r>
              <a:endParaRPr b="1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0F6F7"/>
                  </a:solidFill>
                  <a:latin typeface="Calibri"/>
                  <a:ea typeface="Calibri"/>
                  <a:cs typeface="Calibri"/>
                  <a:sym typeface="Calibri"/>
                </a:rPr>
                <a:t>clientes</a:t>
              </a:r>
              <a:endParaRPr b="0" sz="1600">
                <a:solidFill>
                  <a:srgbClr val="F0F6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2841307" y="0"/>
              <a:ext cx="2524200" cy="1524000"/>
            </a:xfrm>
            <a:prstGeom prst="roundRect">
              <a:avLst>
                <a:gd fmla="val 9375" name="adj"/>
              </a:avLst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2841307" y="0"/>
              <a:ext cx="2524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b="1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0F6F7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 b="0" sz="1600">
                <a:solidFill>
                  <a:srgbClr val="F0F6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5682615" y="0"/>
              <a:ext cx="2524200" cy="1524000"/>
            </a:xfrm>
            <a:prstGeom prst="roundRect">
              <a:avLst>
                <a:gd fmla="val 9375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5682615" y="0"/>
              <a:ext cx="2524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0F6F7"/>
                  </a:solidFill>
                  <a:latin typeface="Calibri"/>
                  <a:ea typeface="Calibri"/>
                  <a:cs typeface="Calibri"/>
                  <a:sym typeface="Calibri"/>
                </a:rPr>
                <a:t>nulos / duplicados</a:t>
              </a:r>
              <a:endParaRPr b="0" sz="1600">
                <a:solidFill>
                  <a:srgbClr val="F0F6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8524875" y="0"/>
              <a:ext cx="2524200" cy="1524000"/>
            </a:xfrm>
            <a:prstGeom prst="roundRect">
              <a:avLst>
                <a:gd fmla="val 9375" name="adj"/>
              </a:avLst>
            </a:pr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8524875" y="0"/>
              <a:ext cx="2524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20,37%</a:t>
              </a:r>
              <a:endParaRPr b="1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0F6F7"/>
                  </a:solidFill>
                  <a:latin typeface="Calibri"/>
                  <a:ea typeface="Calibri"/>
                  <a:cs typeface="Calibri"/>
                  <a:sym typeface="Calibri"/>
                </a:rPr>
                <a:t>tasa de abandono</a:t>
              </a:r>
              <a:endParaRPr b="0" sz="1600">
                <a:solidFill>
                  <a:srgbClr val="F0F6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7"/>
          <p:cNvSpPr/>
          <p:nvPr/>
        </p:nvSpPr>
        <p:spPr>
          <a:xfrm>
            <a:off x="571500" y="381000"/>
            <a:ext cx="110490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Los datos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1047750"/>
            <a:ext cx="110490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Dataset público </a:t>
            </a:r>
            <a:r>
              <a:rPr b="1" lang="en-US" sz="18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Bank Customer Churn (Churn Modelling)</a:t>
            </a:r>
            <a:r>
              <a:rPr b="0" lang="en-US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de Kaggle: clientes de un banco europeo (Francia, Alemania y España).</a:t>
            </a:r>
            <a:endParaRPr b="0" sz="18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5143500"/>
            <a:ext cx="110490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Calidad: dataset estructurado y limpio; solo se eliminaron identificadores (incl. el apellido, por privacidad).</a:t>
            </a:r>
            <a:endParaRPr b="0" i="1" sz="1600">
              <a:solidFill>
                <a:srgbClr val="66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71500" y="6477000"/>
            <a:ext cx="82296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sz="900">
              <a:solidFill>
                <a:srgbClr val="66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548640" y="6446520"/>
            <a:ext cx="8229600" cy="274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1" name="Google Shape;171;p18"/>
          <p:cNvGrpSpPr/>
          <p:nvPr/>
        </p:nvGrpSpPr>
        <p:grpSpPr>
          <a:xfrm>
            <a:off x="571500" y="1238250"/>
            <a:ext cx="11049150" cy="4762650"/>
            <a:chOff x="571500" y="1238250"/>
            <a:chExt cx="11049150" cy="4762650"/>
          </a:xfrm>
        </p:grpSpPr>
        <p:grpSp>
          <p:nvGrpSpPr>
            <p:cNvPr id="172" name="Google Shape;172;p18"/>
            <p:cNvGrpSpPr/>
            <p:nvPr/>
          </p:nvGrpSpPr>
          <p:grpSpPr>
            <a:xfrm>
              <a:off x="571500" y="1238250"/>
              <a:ext cx="3429000" cy="4762500"/>
              <a:chOff x="0" y="0"/>
              <a:chExt cx="3429000" cy="4762500"/>
            </a:xfrm>
          </p:grpSpPr>
          <p:sp>
            <p:nvSpPr>
              <p:cNvPr id="173" name="Google Shape;173;p18"/>
              <p:cNvSpPr/>
              <p:nvPr/>
            </p:nvSpPr>
            <p:spPr>
              <a:xfrm>
                <a:off x="0" y="0"/>
                <a:ext cx="3429000" cy="4762500"/>
              </a:xfrm>
              <a:prstGeom prst="roundRect">
                <a:avLst>
                  <a:gd fmla="val 4166" name="adj"/>
                </a:avLst>
              </a:prstGeom>
              <a:solidFill>
                <a:srgbClr val="0E3D4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8"/>
              <p:cNvSpPr txBox="1"/>
              <p:nvPr/>
            </p:nvSpPr>
            <p:spPr>
              <a:xfrm>
                <a:off x="0" y="0"/>
                <a:ext cx="3429000" cy="47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85750" lIns="285750" spcFirstLastPara="1" rIns="285750" wrap="square" tIns="285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Pasos del proceso</a:t>
                </a:r>
                <a:endParaRPr b="1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Problema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Pregunta e hipótesis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Datos y calidad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Análisis exploratorio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Modelo básico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Evaluación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Interpretación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AutoNum type="arabicPeriod"/>
                </a:pP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Comunicación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18"/>
            <p:cNvGrpSpPr/>
            <p:nvPr/>
          </p:nvGrpSpPr>
          <p:grpSpPr>
            <a:xfrm>
              <a:off x="4286250" y="1238250"/>
              <a:ext cx="3429000" cy="1714500"/>
              <a:chOff x="0" y="0"/>
              <a:chExt cx="3429000" cy="1714500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0" y="0"/>
                <a:ext cx="34290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1C729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8"/>
              <p:cNvSpPr txBox="1"/>
              <p:nvPr/>
            </p:nvSpPr>
            <p:spPr>
              <a:xfrm>
                <a:off x="0" y="0"/>
                <a:ext cx="3429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8125" lIns="238125" spcFirstLastPara="1" rIns="238125" wrap="square" tIns="2381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Herramientas</a:t>
                </a:r>
                <a:endParaRPr b="1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Python, Google Colab, Pandas, NumPy, Matplotlib, Seaborn, Plotly, Scikit-learn, SHAP</a:t>
                </a:r>
                <a:endParaRPr b="0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18"/>
            <p:cNvGrpSpPr/>
            <p:nvPr/>
          </p:nvGrpSpPr>
          <p:grpSpPr>
            <a:xfrm>
              <a:off x="4286250" y="3238500"/>
              <a:ext cx="7334400" cy="2762400"/>
              <a:chOff x="0" y="0"/>
              <a:chExt cx="7334400" cy="2762400"/>
            </a:xfrm>
          </p:grpSpPr>
          <p:sp>
            <p:nvSpPr>
              <p:cNvPr id="179" name="Google Shape;179;p18"/>
              <p:cNvSpPr/>
              <p:nvPr/>
            </p:nvSpPr>
            <p:spPr>
              <a:xfrm>
                <a:off x="0" y="0"/>
                <a:ext cx="7334400" cy="2762400"/>
              </a:xfrm>
              <a:prstGeom prst="roundRect">
                <a:avLst>
                  <a:gd fmla="val 5172" name="adj"/>
                </a:avLst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8"/>
              <p:cNvSpPr txBox="1"/>
              <p:nvPr/>
            </p:nvSpPr>
            <p:spPr>
              <a:xfrm>
                <a:off x="0" y="0"/>
                <a:ext cx="73344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85750" lIns="285750" spcFirstLastPara="1" rIns="285750" wrap="square" tIns="285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Qué cambió durante el desarrollo</a:t>
                </a:r>
                <a:endParaRPr b="1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Char char="●"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Desbalance de clases:</a:t>
                </a: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Foco de la evaluación pasó de exactitud al recall y F1 (~20% abandono).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Char char="●"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Interpretabilidad (XAI):</a:t>
                </a: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Se incorporó SHAP como complemento clave.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3020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Char char="●"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Visualización:</a:t>
                </a:r>
                <a:r>
                  <a:rPr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Tablero implementado en Plotly como HTML interactivo.</a:t>
                </a:r>
                <a:endParaRPr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18"/>
            <p:cNvGrpSpPr/>
            <p:nvPr/>
          </p:nvGrpSpPr>
          <p:grpSpPr>
            <a:xfrm>
              <a:off x="8001000" y="1238250"/>
              <a:ext cx="3619500" cy="1714500"/>
              <a:chOff x="0" y="0"/>
              <a:chExt cx="3619500" cy="1714500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36195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0F6F7"/>
              </a:solidFill>
              <a:ln cap="flat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0" y="0"/>
                <a:ext cx="3619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600">
                    <a:solidFill>
                      <a:srgbClr val="667A8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Metodología robusta para predicción de Churn</a:t>
                </a:r>
                <a:endParaRPr i="1" sz="1600">
                  <a:solidFill>
                    <a:srgbClr val="667A8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E3D4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IA Explicable</a:t>
                </a:r>
                <a:endParaRPr b="1" sz="24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184;p18"/>
          <p:cNvSpPr/>
          <p:nvPr/>
        </p:nvSpPr>
        <p:spPr>
          <a:xfrm>
            <a:off x="571500" y="381000"/>
            <a:ext cx="110490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Enfoque: el método científico aplicado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571500" y="381000"/>
            <a:ext cx="110490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¿Dónde se concentra el abandono?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19"/>
          <p:cNvGrpSpPr/>
          <p:nvPr/>
        </p:nvGrpSpPr>
        <p:grpSpPr>
          <a:xfrm>
            <a:off x="571500" y="1333500"/>
            <a:ext cx="5381700" cy="4762500"/>
            <a:chOff x="0" y="0"/>
            <a:chExt cx="5381700" cy="4762500"/>
          </a:xfrm>
        </p:grpSpPr>
        <p:sp>
          <p:nvSpPr>
            <p:cNvPr id="192" name="Google Shape;192;p19"/>
            <p:cNvSpPr/>
            <p:nvPr/>
          </p:nvSpPr>
          <p:spPr>
            <a:xfrm>
              <a:off x="0" y="0"/>
              <a:ext cx="5381700" cy="4762500"/>
            </a:xfrm>
            <a:prstGeom prst="roundRect">
              <a:avLst>
                <a:gd fmla="val 3000" name="adj"/>
              </a:avLst>
            </a:prstGeom>
            <a:solidFill>
              <a:srgbClr val="F0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3" name="Google Shape;193;p19"/>
            <p:cNvPicPr preferRelativeResize="0"/>
            <p:nvPr/>
          </p:nvPicPr>
          <p:blipFill rotWithShape="1">
            <a:blip r:embed="rId4">
              <a:alphaModFix/>
            </a:blip>
            <a:srcRect b="328" l="0" r="0" t="338"/>
            <a:stretch/>
          </p:blipFill>
          <p:spPr>
            <a:xfrm>
              <a:off x="285750" y="285750"/>
              <a:ext cx="4810200" cy="2762400"/>
            </a:xfrm>
            <a:prstGeom prst="roundRect">
              <a:avLst>
                <a:gd fmla="val 3448" name="adj"/>
              </a:avLst>
            </a:prstGeom>
            <a:noFill/>
            <a:ln>
              <a:noFill/>
            </a:ln>
          </p:spPr>
        </p:pic>
        <p:sp>
          <p:nvSpPr>
            <p:cNvPr id="194" name="Google Shape;194;p19"/>
            <p:cNvSpPr txBox="1"/>
            <p:nvPr/>
          </p:nvSpPr>
          <p:spPr>
            <a:xfrm>
              <a:off x="285750" y="3238500"/>
              <a:ext cx="4810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Efecto no lineal de los productos</a:t>
              </a:r>
              <a:endParaRPr b="1" sz="20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Dos productos es lo más estable (7,6%); tres o cuatro disparan la fuga (83% y 100%).</a:t>
              </a:r>
              <a:endParaRPr b="0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238875" y="1333500"/>
            <a:ext cx="5381700" cy="4762500"/>
            <a:chOff x="0" y="0"/>
            <a:chExt cx="5381700" cy="47625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5381700" cy="4762500"/>
            </a:xfrm>
            <a:prstGeom prst="roundRect">
              <a:avLst>
                <a:gd fmla="val 3000" name="adj"/>
              </a:avLst>
            </a:prstGeom>
            <a:solidFill>
              <a:srgbClr val="F0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8" name="Google Shape;198;p19"/>
            <p:cNvPicPr preferRelativeResize="0"/>
            <p:nvPr/>
          </p:nvPicPr>
          <p:blipFill rotWithShape="1">
            <a:blip r:embed="rId5">
              <a:alphaModFix/>
            </a:blip>
            <a:srcRect b="328" l="0" r="0" t="338"/>
            <a:stretch/>
          </p:blipFill>
          <p:spPr>
            <a:xfrm>
              <a:off x="285750" y="285750"/>
              <a:ext cx="4810200" cy="2762400"/>
            </a:xfrm>
            <a:prstGeom prst="roundRect">
              <a:avLst>
                <a:gd fmla="val 3448" name="adj"/>
              </a:avLst>
            </a:prstGeom>
            <a:noFill/>
            <a:ln>
              <a:noFill/>
            </a:ln>
          </p:spPr>
        </p:pic>
        <p:sp>
          <p:nvSpPr>
            <p:cNvPr id="199" name="Google Shape;199;p19"/>
            <p:cNvSpPr txBox="1"/>
            <p:nvPr/>
          </p:nvSpPr>
          <p:spPr>
            <a:xfrm>
              <a:off x="285750" y="3238500"/>
              <a:ext cx="4810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geográfica</a:t>
              </a:r>
              <a:endParaRPr b="1" sz="20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Alemania casi duplica la tasa de Francia y España (32% vs. ~16%).</a:t>
              </a:r>
              <a:endParaRPr b="0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9"/>
          <p:cNvSpPr/>
          <p:nvPr/>
        </p:nvSpPr>
        <p:spPr>
          <a:xfrm>
            <a:off x="11239500" y="3810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6381750"/>
            <a:ext cx="110490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sz="1000">
              <a:solidFill>
                <a:srgbClr val="66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571500" y="381000"/>
            <a:ext cx="110490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La edad y el perfil de fuga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571500" y="1333500"/>
            <a:ext cx="5848500" cy="33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6715125" y="1333500"/>
            <a:ext cx="4905300" cy="33813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000875" y="1571625"/>
            <a:ext cx="4333800" cy="47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Perfil del cliente con mayor riesgo</a:t>
            </a:r>
            <a:endParaRPr b="1" sz="20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7000875" y="2047875"/>
            <a:ext cx="4333800" cy="247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Edad:</a:t>
            </a: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Mayor edad (pico entre los 50 y 59 años)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Productos:</a:t>
            </a: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Tres o cuatro productos contratados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País:</a:t>
            </a: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Residentes en Alemania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Estado:</a:t>
            </a: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Clientes inactivos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●"/>
            </a:pPr>
            <a:r>
              <a:rPr b="1" lang="en-US" sz="16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Género:</a:t>
            </a: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En menor medida, mujeres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71500" y="4953000"/>
            <a:ext cx="5848500" cy="952500"/>
          </a:xfrm>
          <a:prstGeom prst="roundRect">
            <a:avLst>
              <a:gd fmla="val 15000" name="adj"/>
            </a:avLst>
          </a:prstGeom>
          <a:solidFill>
            <a:srgbClr val="0E3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857250" y="4953000"/>
            <a:ext cx="5277000" cy="952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edad muestra un patrón no monótono: el riesgo crece hasta los 50-59 y luego baja.</a:t>
            </a:r>
            <a:endParaRPr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6381750"/>
            <a:ext cx="110490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sz="1000">
              <a:solidFill>
                <a:srgbClr val="66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/>
        </p:nvSpPr>
        <p:spPr>
          <a:xfrm>
            <a:off x="548640" y="6446520"/>
            <a:ext cx="8229600" cy="274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3810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Modelos básicos de clasificación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571500" y="1428750"/>
            <a:ext cx="5381700" cy="3048000"/>
            <a:chOff x="0" y="0"/>
            <a:chExt cx="5381700" cy="3048000"/>
          </a:xfrm>
        </p:grpSpPr>
        <p:sp>
          <p:nvSpPr>
            <p:cNvPr id="225" name="Google Shape;225;p21"/>
            <p:cNvSpPr/>
            <p:nvPr/>
          </p:nvSpPr>
          <p:spPr>
            <a:xfrm>
              <a:off x="0" y="0"/>
              <a:ext cx="5381700" cy="3048000"/>
            </a:xfrm>
            <a:prstGeom prst="roundRect">
              <a:avLst>
                <a:gd fmla="val 4687" name="adj"/>
              </a:avLst>
            </a:prstGeom>
            <a:solidFill>
              <a:srgbClr val="FFFFFF"/>
            </a:solidFill>
            <a:ln cap="flat" cmpd="sng" w="19050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0" y="0"/>
              <a:ext cx="5381700" cy="666900"/>
            </a:xfrm>
            <a:prstGeom prst="roundRect">
              <a:avLst>
                <a:gd fmla="val 21428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0" y="523875"/>
              <a:ext cx="5381700" cy="142800"/>
            </a:xfrm>
            <a:prstGeom prst="rect">
              <a:avLst/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0" y="0"/>
              <a:ext cx="5381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Regresión logística</a:t>
              </a:r>
              <a:endPara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285750" y="952500"/>
              <a:ext cx="4810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Modelo lineal e interpretable. Sirve de base: estima la probabilidad de abandono y, por sus coeficientes, el sentido de cada variable.</a:t>
              </a:r>
              <a:endParaRPr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1"/>
          <p:cNvGrpSpPr/>
          <p:nvPr/>
        </p:nvGrpSpPr>
        <p:grpSpPr>
          <a:xfrm>
            <a:off x="6238875" y="1428750"/>
            <a:ext cx="5381700" cy="3048000"/>
            <a:chOff x="0" y="0"/>
            <a:chExt cx="5381700" cy="3048000"/>
          </a:xfrm>
        </p:grpSpPr>
        <p:sp>
          <p:nvSpPr>
            <p:cNvPr id="231" name="Google Shape;231;p21"/>
            <p:cNvSpPr/>
            <p:nvPr/>
          </p:nvSpPr>
          <p:spPr>
            <a:xfrm>
              <a:off x="0" y="0"/>
              <a:ext cx="5381700" cy="3048000"/>
            </a:xfrm>
            <a:prstGeom prst="roundRect">
              <a:avLst>
                <a:gd fmla="val 4687" name="adj"/>
              </a:avLst>
            </a:prstGeom>
            <a:solidFill>
              <a:srgbClr val="FFFFFF"/>
            </a:solidFill>
            <a:ln cap="flat" cmpd="sng" w="1905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0" y="0"/>
              <a:ext cx="5381700" cy="666900"/>
            </a:xfrm>
            <a:prstGeom prst="roundRect">
              <a:avLst>
                <a:gd fmla="val 21428" name="adj"/>
              </a:avLst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0" y="523875"/>
              <a:ext cx="5381700" cy="1428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0" y="0"/>
              <a:ext cx="5381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Random Forest</a:t>
              </a:r>
              <a:endPara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285750" y="952500"/>
              <a:ext cx="4810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Ensamble de árboles. Captura relaciones no lineales (como la cantidad de productos) y estima la importancia de cada variable; no requiere escalado.</a:t>
              </a:r>
              <a:endParaRPr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571500" y="4762500"/>
            <a:ext cx="11049000" cy="1238400"/>
            <a:chOff x="0" y="0"/>
            <a:chExt cx="11049000" cy="1238400"/>
          </a:xfrm>
        </p:grpSpPr>
        <p:sp>
          <p:nvSpPr>
            <p:cNvPr id="237" name="Google Shape;237;p21"/>
            <p:cNvSpPr/>
            <p:nvPr/>
          </p:nvSpPr>
          <p:spPr>
            <a:xfrm>
              <a:off x="0" y="0"/>
              <a:ext cx="11049000" cy="1238400"/>
            </a:xfrm>
            <a:prstGeom prst="roundRect">
              <a:avLst>
                <a:gd fmla="val 11538" name="adj"/>
              </a:avLst>
            </a:prstGeom>
            <a:solidFill>
              <a:srgbClr val="0E3D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381000" y="0"/>
              <a:ext cx="10287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9C46A"/>
                  </a:solidFill>
                  <a:latin typeface="Calibri"/>
                  <a:ea typeface="Calibri"/>
                  <a:cs typeface="Calibri"/>
                  <a:sym typeface="Calibri"/>
                </a:rPr>
                <a:t>¿Por qué dos modelos?</a:t>
              </a: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Para contrastar un enfoque lineal simple con uno no lineal y evaluar cuál se ajusta mejor a la pregunta y al desbalance de los datos.</a:t>
              </a:r>
              <a:endPara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571500" y="4953000"/>
            <a:ext cx="11049000" cy="1143600"/>
          </a:xfrm>
          <a:prstGeom prst="roundRect">
            <a:avLst>
              <a:gd fmla="val 15000" name="adj"/>
            </a:avLst>
          </a:prstGeom>
          <a:solidFill>
            <a:srgbClr val="0E3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11045880" y="411480"/>
            <a:ext cx="567000" cy="567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lose/>
              </a:path>
            </a:pathLst>
          </a:custGeom>
          <a:solidFill>
            <a:srgbClr val="2A9D8F"/>
          </a:solidFill>
          <a:ln>
            <a:noFill/>
          </a:ln>
        </p:spPr>
      </p:sp>
      <p:sp>
        <p:nvSpPr>
          <p:cNvPr id="246" name="Google Shape;246;p22"/>
          <p:cNvSpPr/>
          <p:nvPr/>
        </p:nvSpPr>
        <p:spPr>
          <a:xfrm>
            <a:off x="822960" y="5029200"/>
            <a:ext cx="10515582" cy="9143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La exactitud engaña con clases desbalanceadas.  </a:t>
            </a:r>
            <a:r>
              <a:rPr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logística acierta el 81% pero detecta solo 1 de cada 5 fugas; el Random Forest duplica el recall. Un falso negativo es un cliente perdido.</a:t>
            </a:r>
            <a:endParaRPr i="0" sz="2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71500" y="381000"/>
            <a:ext cx="104775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Evaluación: ¿qué métrica importa?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71500" y="6381750"/>
            <a:ext cx="110490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67A85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sz="1000">
              <a:solidFill>
                <a:srgbClr val="66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1238250"/>
            <a:ext cx="5524500" cy="3429000"/>
          </a:xfrm>
          <a:prstGeom prst="roundRect">
            <a:avLst>
              <a:gd fmla="val 41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1" name="Google Shape;251;p22"/>
          <p:cNvGraphicFramePr/>
          <p:nvPr/>
        </p:nvGraphicFramePr>
        <p:xfrm>
          <a:off x="571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{4C8F74DC-8F67-4CA8-BED2-4687589B26F7}</a:tableStyleId>
              </a:tblPr>
              <a:tblGrid>
                <a:gridCol w="1841500"/>
                <a:gridCol w="1841500"/>
                <a:gridCol w="1841500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E3D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</a:t>
                      </a:r>
                      <a:endParaRPr sz="1600">
                        <a:solidFill>
                          <a:srgbClr val="0E3D4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B cap="flat" cmpd="sng" w="19050">
                      <a:solidFill>
                        <a:srgbClr val="0E3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Regr. Logística</a:t>
                      </a:r>
                      <a:endParaRPr b="0" sz="1400">
                        <a:solidFill>
                          <a:srgbClr val="64748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B cap="flat" cmpd="sng" w="19050">
                      <a:solidFill>
                        <a:srgbClr val="0E3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400">
                        <a:solidFill>
                          <a:srgbClr val="2A9D8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B cap="flat" cmpd="sng" w="19050">
                      <a:solidFill>
                        <a:srgbClr val="0E3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Exactitud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19050">
                      <a:solidFill>
                        <a:srgbClr val="0E3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19050">
                      <a:solidFill>
                        <a:srgbClr val="0E3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0,861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19050">
                      <a:solidFill>
                        <a:srgbClr val="0E3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0,767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E3D4D"/>
                          </a:solidFill>
                          <a:highlight>
                            <a:srgbClr val="F0F9F9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 (sensibilidad)</a:t>
                      </a:r>
                      <a:endParaRPr b="1">
                        <a:solidFill>
                          <a:srgbClr val="0E3D4D"/>
                        </a:solidFill>
                        <a:highlight>
                          <a:srgbClr val="F0F9F9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0F9F9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0,187</a:t>
                      </a:r>
                      <a:endParaRPr>
                        <a:highlight>
                          <a:srgbClr val="F0F9F9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0,452</a:t>
                      </a:r>
                      <a:endParaRPr b="1">
                        <a:solidFill>
                          <a:srgbClr val="2A9D8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0,284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0,569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0,856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114300" marR="76200" marL="762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pSp>
        <p:nvGrpSpPr>
          <p:cNvPr id="252" name="Google Shape;252;p22"/>
          <p:cNvGrpSpPr/>
          <p:nvPr/>
        </p:nvGrpSpPr>
        <p:grpSpPr>
          <a:xfrm>
            <a:off x="6477000" y="1238250"/>
            <a:ext cx="5143500" cy="3429000"/>
            <a:chOff x="0" y="0"/>
            <a:chExt cx="5143500" cy="3429000"/>
          </a:xfrm>
        </p:grpSpPr>
        <p:sp>
          <p:nvSpPr>
            <p:cNvPr id="253" name="Google Shape;253;p22"/>
            <p:cNvSpPr/>
            <p:nvPr/>
          </p:nvSpPr>
          <p:spPr>
            <a:xfrm>
              <a:off x="0" y="0"/>
              <a:ext cx="5143500" cy="3429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22"/>
            <p:cNvPicPr preferRelativeResize="0"/>
            <p:nvPr/>
          </p:nvPicPr>
          <p:blipFill rotWithShape="1">
            <a:blip r:embed="rId4">
              <a:alphaModFix/>
            </a:blip>
            <a:srcRect b="0" l="1821" r="1821" t="0"/>
            <a:stretch/>
          </p:blipFill>
          <p:spPr>
            <a:xfrm>
              <a:off x="190500" y="285750"/>
              <a:ext cx="4762500" cy="2857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571500" y="6381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381000"/>
            <a:ext cx="110490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El efecto no lineal de los productos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23"/>
          <p:cNvGrpSpPr/>
          <p:nvPr/>
        </p:nvGrpSpPr>
        <p:grpSpPr>
          <a:xfrm>
            <a:off x="571500" y="1333500"/>
            <a:ext cx="6286500" cy="4572000"/>
            <a:chOff x="0" y="0"/>
            <a:chExt cx="6286500" cy="4572000"/>
          </a:xfrm>
        </p:grpSpPr>
        <p:sp>
          <p:nvSpPr>
            <p:cNvPr id="264" name="Google Shape;264;p23"/>
            <p:cNvSpPr/>
            <p:nvPr/>
          </p:nvSpPr>
          <p:spPr>
            <a:xfrm>
              <a:off x="0" y="0"/>
              <a:ext cx="62865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5" name="Google Shape;265;p23"/>
            <p:cNvPicPr preferRelativeResize="0"/>
            <p:nvPr/>
          </p:nvPicPr>
          <p:blipFill rotWithShape="1">
            <a:blip r:embed="rId4">
              <a:alphaModFix/>
            </a:blip>
            <a:srcRect b="0" l="524" r="524" t="0"/>
            <a:stretch/>
          </p:blipFill>
          <p:spPr>
            <a:xfrm>
              <a:off x="190500" y="190500"/>
              <a:ext cx="5905500" cy="381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3"/>
            <p:cNvSpPr txBox="1"/>
            <p:nvPr/>
          </p:nvSpPr>
          <p:spPr>
            <a:xfrm>
              <a:off x="190500" y="4000500"/>
              <a:ext cx="590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Visualización SHAP: Impacto de las variables en la probabilidad de abandono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23"/>
          <p:cNvGrpSpPr/>
          <p:nvPr/>
        </p:nvGrpSpPr>
        <p:grpSpPr>
          <a:xfrm>
            <a:off x="7048500" y="1333500"/>
            <a:ext cx="4572000" cy="2190900"/>
            <a:chOff x="0" y="0"/>
            <a:chExt cx="4572000" cy="2190900"/>
          </a:xfrm>
        </p:grpSpPr>
        <p:sp>
          <p:nvSpPr>
            <p:cNvPr id="268" name="Google Shape;268;p23"/>
            <p:cNvSpPr/>
            <p:nvPr/>
          </p:nvSpPr>
          <p:spPr>
            <a:xfrm>
              <a:off x="0" y="0"/>
              <a:ext cx="45720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0" y="0"/>
              <a:ext cx="238200" cy="2190900"/>
            </a:xfrm>
            <a:custGeom>
              <a:rect b="b" l="l" r="r" t="t"/>
              <a:pathLst>
                <a:path extrusionOk="0" h="120000" w="120000">
                  <a:moveTo>
                    <a:pt x="0" y="7826"/>
                  </a:moveTo>
                  <a:quadBezTo>
                    <a:pt x="0" y="0"/>
                    <a:pt x="72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quadBezTo>
                    <a:pt x="0" y="120000"/>
                    <a:pt x="0" y="112174"/>
                  </a:quadBezTo>
                  <a:close/>
                </a:path>
              </a:pathLst>
            </a:cu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381000" y="190500"/>
              <a:ext cx="4000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76F51"/>
                  </a:solidFill>
                  <a:latin typeface="Calibri"/>
                  <a:ea typeface="Calibri"/>
                  <a:cs typeface="Calibri"/>
                  <a:sym typeface="Calibri"/>
                </a:rPr>
                <a:t>Efecto no lineal</a:t>
              </a:r>
              <a:endParaRPr b="1" sz="20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Dos productos protegen contra la fuga; tres o cuatro la disparan. En el beeswarm, </a:t>
              </a:r>
              <a:r>
                <a:rPr b="1"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NumOfProducts</a:t>
              </a:r>
              <a:r>
                <a:rPr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no se ubica siempre del mismo lado del centro: su efecto no es lineal y por eso aparece "mezclado".</a:t>
              </a:r>
              <a:endParaRPr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23"/>
          <p:cNvGrpSpPr/>
          <p:nvPr/>
        </p:nvGrpSpPr>
        <p:grpSpPr>
          <a:xfrm>
            <a:off x="7048500" y="3714750"/>
            <a:ext cx="4572000" cy="2190900"/>
            <a:chOff x="0" y="0"/>
            <a:chExt cx="4572000" cy="2190900"/>
          </a:xfrm>
        </p:grpSpPr>
        <p:sp>
          <p:nvSpPr>
            <p:cNvPr id="272" name="Google Shape;272;p23"/>
            <p:cNvSpPr/>
            <p:nvPr/>
          </p:nvSpPr>
          <p:spPr>
            <a:xfrm>
              <a:off x="0" y="0"/>
              <a:ext cx="4572000" cy="2190900"/>
            </a:xfrm>
            <a:prstGeom prst="roundRect">
              <a:avLst>
                <a:gd fmla="val 6521" name="adj"/>
              </a:avLst>
            </a:prstGeom>
            <a:solidFill>
              <a:srgbClr val="0E3D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3"/>
            <p:cNvSpPr txBox="1"/>
            <p:nvPr/>
          </p:nvSpPr>
          <p:spPr>
            <a:xfrm>
              <a:off x="285750" y="238125"/>
              <a:ext cx="4000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9C46A"/>
                  </a:solidFill>
                  <a:latin typeface="Calibri"/>
                  <a:ea typeface="Calibri"/>
                  <a:cs typeface="Calibri"/>
                  <a:sym typeface="Calibri"/>
                </a:rPr>
                <a:t>Cómo leerlo</a:t>
              </a:r>
              <a:endParaRPr b="1" sz="1800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Cada punto es un cliente. El color indica el valor de la variable (alto o bajo) y la posición horizontal, su impacto en la predicción de abandono.</a:t>
              </a:r>
              <a:endParaRPr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lang="en-US" sz="1200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Rojo</a:t>
              </a:r>
              <a:r>
                <a:rPr lang="en-US" sz="12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: Valor alto de la variable</a:t>
              </a:r>
              <a:endParaRPr sz="12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lang="en-US" sz="1200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Azul</a:t>
              </a:r>
              <a:r>
                <a:rPr lang="en-US" sz="12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: Valor bajo de la variable</a:t>
              </a:r>
              <a:endParaRPr sz="12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71500" y="1238250"/>
            <a:ext cx="5715000" cy="34761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24"/>
          <p:cNvPicPr preferRelativeResize="0"/>
          <p:nvPr/>
        </p:nvPicPr>
        <p:blipFill rotWithShape="1">
          <a:blip r:embed="rId4">
            <a:alphaModFix/>
          </a:blip>
          <a:srcRect b="1057" l="0" r="0" t="1057"/>
          <a:stretch/>
        </p:blipFill>
        <p:spPr>
          <a:xfrm>
            <a:off x="714375" y="1381125"/>
            <a:ext cx="54294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571500" y="4953000"/>
            <a:ext cx="5715000" cy="114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 de apoyo analítico. Las asociaciones no implican causalidad y requieren revisión humana antes de ejecutar acciones comerciales.</a:t>
            </a:r>
            <a:endParaRPr b="0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24"/>
          <p:cNvGrpSpPr/>
          <p:nvPr/>
        </p:nvGrpSpPr>
        <p:grpSpPr>
          <a:xfrm>
            <a:off x="6572250" y="1238250"/>
            <a:ext cx="5252355" cy="1428900"/>
            <a:chOff x="0" y="0"/>
            <a:chExt cx="5048400" cy="1428900"/>
          </a:xfrm>
        </p:grpSpPr>
        <p:sp>
          <p:nvSpPr>
            <p:cNvPr id="284" name="Google Shape;284;p24"/>
            <p:cNvSpPr/>
            <p:nvPr/>
          </p:nvSpPr>
          <p:spPr>
            <a:xfrm>
              <a:off x="0" y="0"/>
              <a:ext cx="5048400" cy="1428900"/>
            </a:xfrm>
            <a:prstGeom prst="roundRect">
              <a:avLst>
                <a:gd fmla="val 10000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0" y="0"/>
              <a:ext cx="238200" cy="14289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4000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6000"/>
                    <a:pt x="0" y="108000"/>
                  </a:cubicBezTo>
                  <a:close/>
                </a:path>
              </a:pathLst>
            </a:cu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4"/>
          <p:cNvSpPr/>
          <p:nvPr/>
        </p:nvSpPr>
        <p:spPr>
          <a:xfrm>
            <a:off x="6953250" y="1381125"/>
            <a:ext cx="44769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Variables poco informativas</a:t>
            </a:r>
            <a:endParaRPr b="1" sz="1800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6968633" y="1714500"/>
            <a:ext cx="46578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 salario, el puntaje crediticio, la antigüedad y la tenencia de tarjeta aportan muy poco a la predicción.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" name="Google Shape;288;p24"/>
          <p:cNvGrpSpPr/>
          <p:nvPr/>
        </p:nvGrpSpPr>
        <p:grpSpPr>
          <a:xfrm>
            <a:off x="6572250" y="2857500"/>
            <a:ext cx="5252355" cy="1428900"/>
            <a:chOff x="0" y="0"/>
            <a:chExt cx="5048400" cy="1428900"/>
          </a:xfrm>
        </p:grpSpPr>
        <p:sp>
          <p:nvSpPr>
            <p:cNvPr id="289" name="Google Shape;289;p24"/>
            <p:cNvSpPr/>
            <p:nvPr/>
          </p:nvSpPr>
          <p:spPr>
            <a:xfrm>
              <a:off x="0" y="0"/>
              <a:ext cx="5048400" cy="1428900"/>
            </a:xfrm>
            <a:prstGeom prst="roundRect">
              <a:avLst>
                <a:gd fmla="val 10000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0" y="0"/>
              <a:ext cx="238200" cy="14289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4000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6000"/>
                    <a:pt x="0" y="108000"/>
                  </a:cubicBezTo>
                  <a:close/>
                </a:path>
              </a:pathLst>
            </a:cu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4"/>
          <p:cNvSpPr/>
          <p:nvPr/>
        </p:nvSpPr>
        <p:spPr>
          <a:xfrm>
            <a:off x="6953250" y="3000375"/>
            <a:ext cx="44769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Impureza vs. SHAP</a:t>
            </a:r>
            <a:endParaRPr b="1" sz="18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968633" y="3333750"/>
            <a:ext cx="46578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 salario figura alto por impureza pero casi último en SHAP: la impureza se sesga hacia variables continuas. SHAP es más fiable.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p24"/>
          <p:cNvGrpSpPr/>
          <p:nvPr/>
        </p:nvGrpSpPr>
        <p:grpSpPr>
          <a:xfrm>
            <a:off x="6572250" y="4476750"/>
            <a:ext cx="5252355" cy="1428900"/>
            <a:chOff x="0" y="0"/>
            <a:chExt cx="5048400" cy="1428900"/>
          </a:xfrm>
        </p:grpSpPr>
        <p:sp>
          <p:nvSpPr>
            <p:cNvPr id="294" name="Google Shape;294;p24"/>
            <p:cNvSpPr/>
            <p:nvPr/>
          </p:nvSpPr>
          <p:spPr>
            <a:xfrm>
              <a:off x="0" y="0"/>
              <a:ext cx="5048400" cy="1428900"/>
            </a:xfrm>
            <a:prstGeom prst="roundRect">
              <a:avLst>
                <a:gd fmla="val 10000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0" y="0"/>
              <a:ext cx="238200" cy="14289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4000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6000"/>
                    <a:pt x="0" y="108000"/>
                  </a:cubicBezTo>
                  <a:close/>
                </a:path>
              </a:pathLst>
            </a:cu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24"/>
          <p:cNvSpPr txBox="1"/>
          <p:nvPr/>
        </p:nvSpPr>
        <p:spPr>
          <a:xfrm>
            <a:off x="6953250" y="4619625"/>
            <a:ext cx="4476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Efecto no Lineal</a:t>
            </a:r>
            <a:endParaRPr b="1" sz="1800">
              <a:solidFill>
                <a:srgbClr val="E76F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6968633" y="4953000"/>
            <a:ext cx="46578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SHAP revela dinámicas ocultas: tener 2 productos protege contra la fuga, pero poseer 3 o 4 la dispara drásticamente.</a:t>
            </a:r>
            <a:endParaRPr b="0" sz="16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71500" y="6381750"/>
            <a:ext cx="11049000" cy="28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571500" y="381000"/>
            <a:ext cx="11049000" cy="57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Interpretación con SHAP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571500" y="3810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Tablero interactivo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7" name="Google Shape;307;p25"/>
          <p:cNvGrpSpPr/>
          <p:nvPr/>
        </p:nvGrpSpPr>
        <p:grpSpPr>
          <a:xfrm>
            <a:off x="571500" y="1333500"/>
            <a:ext cx="6286500" cy="4572000"/>
            <a:chOff x="0" y="0"/>
            <a:chExt cx="6286500" cy="4572000"/>
          </a:xfrm>
        </p:grpSpPr>
        <p:sp>
          <p:nvSpPr>
            <p:cNvPr id="308" name="Google Shape;308;p25"/>
            <p:cNvSpPr/>
            <p:nvPr/>
          </p:nvSpPr>
          <p:spPr>
            <a:xfrm>
              <a:off x="0" y="0"/>
              <a:ext cx="62865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 txBox="1"/>
            <p:nvPr/>
          </p:nvSpPr>
          <p:spPr>
            <a:xfrm>
              <a:off x="285750" y="285750"/>
              <a:ext cx="5715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Construido en Plotly</a:t>
              </a:r>
              <a:endParaRPr b="1" sz="2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HTML interactivo y autocontenido que reúne de un vistazo las respuestas clave: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1F2937"/>
                </a:buClr>
                <a:buSzPts val="1600"/>
                <a:buFont typeface="Calibri"/>
                <a:buChar char="●"/>
              </a:pPr>
              <a:r>
                <a:rPr b="1" lang="en-US" sz="1600">
                  <a:solidFill>
                    <a:srgbClr val="2A9D8F"/>
                  </a:solidFill>
                  <a:latin typeface="Calibri"/>
                  <a:ea typeface="Calibri"/>
                  <a:cs typeface="Calibri"/>
                  <a:sym typeface="Calibri"/>
                </a:rPr>
                <a:t>Indicadores clave:</a:t>
              </a:r>
              <a:r>
                <a:rPr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clientes, tasa de abandono, recall y AUC.</a:t>
              </a:r>
              <a:endParaRPr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1F2937"/>
                </a:buClr>
                <a:buSzPts val="1600"/>
                <a:buFont typeface="Calibri"/>
                <a:buChar char="●"/>
              </a:pPr>
              <a:r>
                <a:rPr b="1" lang="en-US" sz="1600">
                  <a:solidFill>
                    <a:srgbClr val="2A9D8F"/>
                  </a:solidFill>
                  <a:latin typeface="Calibri"/>
                  <a:ea typeface="Calibri"/>
                  <a:cs typeface="Calibri"/>
                  <a:sym typeface="Calibri"/>
                </a:rPr>
                <a:t>Segmentación:</a:t>
              </a:r>
              <a:r>
                <a:rPr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tasa de abandono por país, productos, actividad y edad.</a:t>
              </a:r>
              <a:endParaRPr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1F2937"/>
                </a:buClr>
                <a:buSzPts val="1600"/>
                <a:buFont typeface="Calibri"/>
                <a:buChar char="●"/>
              </a:pPr>
              <a:r>
                <a:rPr b="1" lang="en-US" sz="1600">
                  <a:solidFill>
                    <a:srgbClr val="2A9D8F"/>
                  </a:solidFill>
                  <a:latin typeface="Calibri"/>
                  <a:ea typeface="Calibri"/>
                  <a:cs typeface="Calibri"/>
                  <a:sym typeface="Calibri"/>
                </a:rPr>
                <a:t>Explicabilidad:</a:t>
              </a:r>
              <a:r>
                <a:rPr lang="en-US" sz="16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importancia SHAP y comparación de modelos.</a:t>
              </a:r>
              <a:endParaRPr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25"/>
          <p:cNvGrpSpPr/>
          <p:nvPr/>
        </p:nvGrpSpPr>
        <p:grpSpPr>
          <a:xfrm>
            <a:off x="7048500" y="1333500"/>
            <a:ext cx="4572000" cy="4572000"/>
            <a:chOff x="0" y="0"/>
            <a:chExt cx="4572000" cy="4572000"/>
          </a:xfrm>
        </p:grpSpPr>
        <p:sp>
          <p:nvSpPr>
            <p:cNvPr id="311" name="Google Shape;311;p25"/>
            <p:cNvSpPr/>
            <p:nvPr/>
          </p:nvSpPr>
          <p:spPr>
            <a:xfrm>
              <a:off x="0" y="0"/>
              <a:ext cx="4572000" cy="4572000"/>
            </a:xfrm>
            <a:prstGeom prst="roundRect">
              <a:avLst>
                <a:gd fmla="val 3125" name="adj"/>
              </a:avLst>
            </a:prstGeom>
            <a:solidFill>
              <a:srgbClr val="0E3D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 txBox="1"/>
            <p:nvPr/>
          </p:nvSpPr>
          <p:spPr>
            <a:xfrm>
              <a:off x="381000" y="381000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Exploración de Datos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9DB6BF"/>
                  </a:solidFill>
                  <a:latin typeface="Calibri"/>
                  <a:ea typeface="Calibri"/>
                  <a:cs typeface="Calibri"/>
                  <a:sym typeface="Calibri"/>
                </a:rPr>
                <a:t>KPIs + gráficos interactivos de país, productos, actividad, edad, SHAP y modelos.</a:t>
              </a:r>
              <a:endParaRPr i="1" sz="16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6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Ver tablero en línea</a:t>
              </a:r>
              <a:endParaRPr u="sng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25"/>
          <p:cNvSpPr txBox="1"/>
          <p:nvPr/>
        </p:nvSpPr>
        <p:spPr>
          <a:xfrm>
            <a:off x="571500" y="6381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571500" y="381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Consideraciones éticas y limitaciones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" name="Google Shape;321;p26"/>
          <p:cNvGrpSpPr/>
          <p:nvPr/>
        </p:nvGrpSpPr>
        <p:grpSpPr>
          <a:xfrm>
            <a:off x="571500" y="1333500"/>
            <a:ext cx="5381700" cy="4572000"/>
            <a:chOff x="0" y="0"/>
            <a:chExt cx="5381700" cy="4572000"/>
          </a:xfrm>
        </p:grpSpPr>
        <p:sp>
          <p:nvSpPr>
            <p:cNvPr id="322" name="Google Shape;322;p26"/>
            <p:cNvSpPr/>
            <p:nvPr/>
          </p:nvSpPr>
          <p:spPr>
            <a:xfrm>
              <a:off x="0" y="0"/>
              <a:ext cx="53817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0" y="0"/>
              <a:ext cx="142800" cy="4572000"/>
            </a:xfrm>
            <a:prstGeom prst="roundRect">
              <a:avLst>
                <a:gd fmla="val 50000" name="adj"/>
              </a:avLst>
            </a:pr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6"/>
            <p:cNvSpPr txBox="1"/>
            <p:nvPr/>
          </p:nvSpPr>
          <p:spPr>
            <a:xfrm>
              <a:off x="381000" y="285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E76F51"/>
                  </a:solidFill>
                  <a:latin typeface="Calibri"/>
                  <a:ea typeface="Calibri"/>
                  <a:cs typeface="Calibri"/>
                  <a:sym typeface="Calibri"/>
                </a:rPr>
                <a:t>Ética</a:t>
              </a:r>
              <a:endParaRPr b="1" sz="22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6"/>
            <p:cNvSpPr txBox="1"/>
            <p:nvPr/>
          </p:nvSpPr>
          <p:spPr>
            <a:xfrm>
              <a:off x="381000" y="762000"/>
              <a:ext cx="47625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Género y país son atributos sensibles: su uso para decisiones comerciales debe auditarse.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Monitorear la equidad del modelo entre grupos.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Se eliminó el apellido por privacidad.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Las predicciones orientan el acompañamiento, no penalizan; deben ser revisables por personas.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6"/>
          <p:cNvGrpSpPr/>
          <p:nvPr/>
        </p:nvGrpSpPr>
        <p:grpSpPr>
          <a:xfrm>
            <a:off x="6238875" y="1333500"/>
            <a:ext cx="5381700" cy="4572000"/>
            <a:chOff x="0" y="0"/>
            <a:chExt cx="5381700" cy="4572000"/>
          </a:xfrm>
        </p:grpSpPr>
        <p:sp>
          <p:nvSpPr>
            <p:cNvPr id="327" name="Google Shape;327;p26"/>
            <p:cNvSpPr/>
            <p:nvPr/>
          </p:nvSpPr>
          <p:spPr>
            <a:xfrm>
              <a:off x="0" y="0"/>
              <a:ext cx="53817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0" y="0"/>
              <a:ext cx="142800" cy="4572000"/>
            </a:xfrm>
            <a:prstGeom prst="roundRect">
              <a:avLst>
                <a:gd fmla="val 50000" name="adj"/>
              </a:avLst>
            </a:prstGeom>
            <a:solidFill>
              <a:srgbClr val="0E3D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 txBox="1"/>
            <p:nvPr/>
          </p:nvSpPr>
          <p:spPr>
            <a:xfrm>
              <a:off x="381000" y="285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Limitaciones</a:t>
              </a:r>
              <a:endParaRPr b="1" sz="2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6"/>
            <p:cNvSpPr txBox="1"/>
            <p:nvPr/>
          </p:nvSpPr>
          <p:spPr>
            <a:xfrm>
              <a:off x="381000" y="762000"/>
              <a:ext cx="47625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El desbalance mantiene el recall por debajo de lo deseable.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Dataset estático y de una región: sin información temporal.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Los resultados son asociaciones, no relaciones causales.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F2937"/>
                </a:buClr>
                <a:buSzPts val="1800"/>
                <a:buFont typeface="Calibri"/>
                <a:buChar char="●"/>
              </a:pPr>
              <a:r>
                <a:rPr b="0" lang="en-US" sz="18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Modelos básicos, sin optimización ni balanceo: no generalizables.</a:t>
              </a:r>
              <a:endParaRPr b="0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6"/>
          <p:cNvSpPr txBox="1"/>
          <p:nvPr/>
        </p:nvSpPr>
        <p:spPr>
          <a:xfrm>
            <a:off x="571500" y="6381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571500" y="381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rPr>
              <a:t>Conclusiones y próximos pasos</a:t>
            </a:r>
            <a:endParaRPr b="1" sz="3200">
              <a:solidFill>
                <a:srgbClr val="0E3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" name="Google Shape;339;p27"/>
          <p:cNvGrpSpPr/>
          <p:nvPr/>
        </p:nvGrpSpPr>
        <p:grpSpPr>
          <a:xfrm>
            <a:off x="571500" y="1333500"/>
            <a:ext cx="11049000" cy="1143000"/>
            <a:chOff x="0" y="0"/>
            <a:chExt cx="11049000" cy="1143000"/>
          </a:xfrm>
        </p:grpSpPr>
        <p:sp>
          <p:nvSpPr>
            <p:cNvPr id="340" name="Google Shape;340;p27"/>
            <p:cNvSpPr/>
            <p:nvPr/>
          </p:nvSpPr>
          <p:spPr>
            <a:xfrm>
              <a:off x="0" y="0"/>
              <a:ext cx="11049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7"/>
            <p:cNvSpPr txBox="1"/>
            <p:nvPr/>
          </p:nvSpPr>
          <p:spPr>
            <a:xfrm>
              <a:off x="285750" y="19050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5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Respondimos la pregunta: </a:t>
              </a:r>
              <a:r>
                <a:rPr b="0" lang="en-US" sz="1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hay variables claramente asociadas al abandono y un modelo básico permite anticiparlo de forma parcial pero útil. El Random Forest fue el más adecuado, y SHAP aportó transparencia.</a:t>
              </a:r>
              <a:endParaRPr b="1" sz="185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27"/>
          <p:cNvSpPr txBox="1"/>
          <p:nvPr/>
        </p:nvSpPr>
        <p:spPr>
          <a:xfrm>
            <a:off x="571500" y="27622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1" sz="1800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p27"/>
          <p:cNvGrpSpPr/>
          <p:nvPr/>
        </p:nvGrpSpPr>
        <p:grpSpPr>
          <a:xfrm>
            <a:off x="571500" y="3238500"/>
            <a:ext cx="5381700" cy="1333500"/>
            <a:chOff x="0" y="0"/>
            <a:chExt cx="5381700" cy="1333500"/>
          </a:xfrm>
        </p:grpSpPr>
        <p:sp>
          <p:nvSpPr>
            <p:cNvPr id="344" name="Google Shape;344;p27"/>
            <p:cNvSpPr/>
            <p:nvPr/>
          </p:nvSpPr>
          <p:spPr>
            <a:xfrm>
              <a:off x="0" y="0"/>
              <a:ext cx="5381700" cy="1333500"/>
            </a:xfrm>
            <a:prstGeom prst="roundRect">
              <a:avLst>
                <a:gd fmla="val 10714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0" y="0"/>
              <a:ext cx="238200" cy="1333500"/>
            </a:xfrm>
            <a:custGeom>
              <a:rect b="b" l="l" r="r" t="t"/>
              <a:pathLst>
                <a:path extrusionOk="0" h="120000" w="120000">
                  <a:moveTo>
                    <a:pt x="0" y="12857"/>
                  </a:moveTo>
                  <a:cubicBezTo>
                    <a:pt x="0" y="4286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5714"/>
                    <a:pt x="0" y="107143"/>
                  </a:cubicBezTo>
                  <a:close/>
                </a:path>
              </a:pathLst>
            </a:cu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 txBox="1"/>
            <p:nvPr/>
          </p:nvSpPr>
          <p:spPr>
            <a:xfrm>
              <a:off x="428625" y="1905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Balancear y ajustar umbral</a:t>
              </a:r>
              <a:endParaRPr b="1" sz="18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Ponderación de clases o remuestreo para mejorar el recall.</a:t>
              </a:r>
              <a:endParaRPr b="0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27"/>
          <p:cNvGrpSpPr/>
          <p:nvPr/>
        </p:nvGrpSpPr>
        <p:grpSpPr>
          <a:xfrm>
            <a:off x="6238875" y="3238500"/>
            <a:ext cx="5381700" cy="1333500"/>
            <a:chOff x="0" y="0"/>
            <a:chExt cx="5381700" cy="1333500"/>
          </a:xfrm>
        </p:grpSpPr>
        <p:sp>
          <p:nvSpPr>
            <p:cNvPr id="348" name="Google Shape;348;p27"/>
            <p:cNvSpPr/>
            <p:nvPr/>
          </p:nvSpPr>
          <p:spPr>
            <a:xfrm>
              <a:off x="0" y="0"/>
              <a:ext cx="5381700" cy="1333500"/>
            </a:xfrm>
            <a:prstGeom prst="roundRect">
              <a:avLst>
                <a:gd fmla="val 10714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0" y="0"/>
              <a:ext cx="238200" cy="1333500"/>
            </a:xfrm>
            <a:custGeom>
              <a:rect b="b" l="l" r="r" t="t"/>
              <a:pathLst>
                <a:path extrusionOk="0" h="120000" w="120000">
                  <a:moveTo>
                    <a:pt x="0" y="12857"/>
                  </a:moveTo>
                  <a:cubicBezTo>
                    <a:pt x="0" y="4286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5714"/>
                    <a:pt x="0" y="107143"/>
                  </a:cubicBezTo>
                  <a:close/>
                </a:path>
              </a:pathLst>
            </a:cu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 txBox="1"/>
            <p:nvPr/>
          </p:nvSpPr>
          <p:spPr>
            <a:xfrm>
              <a:off x="428625" y="1905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Validar y optimizar</a:t>
              </a:r>
              <a:endParaRPr b="1" sz="18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Validación cruzada y ajuste de hiperparámetros.</a:t>
              </a:r>
              <a:endParaRPr b="0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27"/>
          <p:cNvGrpSpPr/>
          <p:nvPr/>
        </p:nvGrpSpPr>
        <p:grpSpPr>
          <a:xfrm>
            <a:off x="571500" y="4762500"/>
            <a:ext cx="5381700" cy="1333500"/>
            <a:chOff x="0" y="0"/>
            <a:chExt cx="5381700" cy="1333500"/>
          </a:xfrm>
        </p:grpSpPr>
        <p:sp>
          <p:nvSpPr>
            <p:cNvPr id="352" name="Google Shape;352;p27"/>
            <p:cNvSpPr/>
            <p:nvPr/>
          </p:nvSpPr>
          <p:spPr>
            <a:xfrm>
              <a:off x="0" y="0"/>
              <a:ext cx="5381700" cy="1333500"/>
            </a:xfrm>
            <a:prstGeom prst="roundRect">
              <a:avLst>
                <a:gd fmla="val 10714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0" y="0"/>
              <a:ext cx="238200" cy="1333500"/>
            </a:xfrm>
            <a:custGeom>
              <a:rect b="b" l="l" r="r" t="t"/>
              <a:pathLst>
                <a:path extrusionOk="0" h="120000" w="120000">
                  <a:moveTo>
                    <a:pt x="0" y="12857"/>
                  </a:moveTo>
                  <a:cubicBezTo>
                    <a:pt x="0" y="4286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5714"/>
                    <a:pt x="0" y="107143"/>
                  </a:cubicBezTo>
                  <a:close/>
                </a:path>
              </a:pathLst>
            </a:cu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 txBox="1"/>
            <p:nvPr/>
          </p:nvSpPr>
          <p:spPr>
            <a:xfrm>
              <a:off x="428625" y="1905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Más y mejores datos</a:t>
              </a:r>
              <a:endParaRPr b="1" sz="18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Datos temporales y de otras regiones.</a:t>
              </a:r>
              <a:endParaRPr b="0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27"/>
          <p:cNvGrpSpPr/>
          <p:nvPr/>
        </p:nvGrpSpPr>
        <p:grpSpPr>
          <a:xfrm>
            <a:off x="6238875" y="4762500"/>
            <a:ext cx="5381700" cy="1333500"/>
            <a:chOff x="0" y="0"/>
            <a:chExt cx="5381700" cy="1333500"/>
          </a:xfrm>
        </p:grpSpPr>
        <p:sp>
          <p:nvSpPr>
            <p:cNvPr id="356" name="Google Shape;356;p27"/>
            <p:cNvSpPr/>
            <p:nvPr/>
          </p:nvSpPr>
          <p:spPr>
            <a:xfrm>
              <a:off x="0" y="0"/>
              <a:ext cx="5381700" cy="1333500"/>
            </a:xfrm>
            <a:prstGeom prst="roundRect">
              <a:avLst>
                <a:gd fmla="val 10714" name="adj"/>
              </a:avLst>
            </a:prstGeom>
            <a:solidFill>
              <a:srgbClr val="EE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0" y="0"/>
              <a:ext cx="238200" cy="1333500"/>
            </a:xfrm>
            <a:custGeom>
              <a:rect b="b" l="l" r="r" t="t"/>
              <a:pathLst>
                <a:path extrusionOk="0" h="120000" w="120000">
                  <a:moveTo>
                    <a:pt x="0" y="12857"/>
                  </a:moveTo>
                  <a:cubicBezTo>
                    <a:pt x="0" y="4286"/>
                    <a:pt x="2400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24000" y="120000"/>
                    <a:pt x="0" y="115714"/>
                    <a:pt x="0" y="107143"/>
                  </a:cubicBezTo>
                  <a:close/>
                </a:path>
              </a:pathLst>
            </a:custGeom>
            <a:solidFill>
              <a:srgbClr val="0E3D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 txBox="1"/>
            <p:nvPr/>
          </p:nvSpPr>
          <p:spPr>
            <a:xfrm>
              <a:off x="428625" y="1905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E3D4D"/>
                  </a:solidFill>
                  <a:latin typeface="Calibri"/>
                  <a:ea typeface="Calibri"/>
                  <a:cs typeface="Calibri"/>
                  <a:sym typeface="Calibri"/>
                </a:rPr>
                <a:t>Tiempo real</a:t>
              </a:r>
              <a:endParaRPr b="1" sz="1800">
                <a:solidFill>
                  <a:srgbClr val="0E3D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Despliegue como sistema de alerta temprana.</a:t>
              </a:r>
              <a:endParaRPr b="0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7"/>
          <p:cNvGrpSpPr/>
          <p:nvPr/>
        </p:nvGrpSpPr>
        <p:grpSpPr>
          <a:xfrm>
            <a:off x="571500" y="6381750"/>
            <a:ext cx="11049000" cy="285900"/>
            <a:chOff x="0" y="0"/>
            <a:chExt cx="11049000" cy="285900"/>
          </a:xfrm>
        </p:grpSpPr>
        <p:sp>
          <p:nvSpPr>
            <p:cNvPr id="360" name="Google Shape;360;p27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Predicción de abandono de clientes · Banca minorista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7"/>
            <p:cNvSpPr txBox="1"/>
            <p:nvPr/>
          </p:nvSpPr>
          <p:spPr>
            <a:xfrm>
              <a:off x="10477500" y="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D4D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/>
          <p:nvPr/>
        </p:nvSpPr>
        <p:spPr>
          <a:xfrm>
            <a:off x="-1463040" y="4663440"/>
            <a:ext cx="4023378" cy="4023378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lose/>
              </a:path>
            </a:pathLst>
          </a:custGeom>
          <a:solidFill>
            <a:srgbClr val="124B5C"/>
          </a:solidFill>
          <a:ln>
            <a:noFill/>
          </a:ln>
        </p:spPr>
      </p:sp>
      <p:sp>
        <p:nvSpPr>
          <p:cNvPr id="368" name="Google Shape;368;p28"/>
          <p:cNvSpPr/>
          <p:nvPr/>
        </p:nvSpPr>
        <p:spPr>
          <a:xfrm>
            <a:off x="9994320" y="-1645920"/>
            <a:ext cx="3840480" cy="384048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lose/>
              </a:path>
            </a:pathLst>
          </a:custGeom>
          <a:solidFill>
            <a:srgbClr val="124B5C"/>
          </a:solidFill>
          <a:ln>
            <a:noFill/>
          </a:ln>
        </p:spPr>
      </p:sp>
      <p:sp>
        <p:nvSpPr>
          <p:cNvPr id="369" name="Google Shape;369;p28"/>
          <p:cNvSpPr/>
          <p:nvPr/>
        </p:nvSpPr>
        <p:spPr>
          <a:xfrm>
            <a:off x="914400" y="2286000"/>
            <a:ext cx="10332738" cy="10972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</a:t>
            </a:r>
            <a:r>
              <a:rPr b="1"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Muchas g</a:t>
            </a: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racias!</a:t>
            </a:r>
            <a:endParaRPr i="0" sz="5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5413832" y="3428811"/>
            <a:ext cx="1364337" cy="378"/>
          </a:xfrm>
          <a:custGeom>
            <a:rect b="b" l="l" r="r" t="t"/>
            <a:pathLst>
              <a:path extrusionOk="0" h="21600" w="41979600">
                <a:moveTo>
                  <a:pt x="0" y="0"/>
                </a:moveTo>
                <a:lnTo>
                  <a:pt x="41979600" y="21600"/>
                </a:lnTo>
              </a:path>
            </a:pathLst>
          </a:custGeom>
          <a:noFill/>
          <a:ln cap="flat" cmpd="sng" w="31675">
            <a:solidFill>
              <a:srgbClr val="E76F5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71" name="Google Shape;371;p28"/>
          <p:cNvSpPr/>
          <p:nvPr/>
        </p:nvSpPr>
        <p:spPr>
          <a:xfrm>
            <a:off x="914400" y="4572000"/>
            <a:ext cx="10332738" cy="4572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Frati</a:t>
            </a:r>
            <a:r>
              <a:rPr lang="en-US" sz="13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 · Libutzki</a:t>
            </a:r>
            <a:r>
              <a:rPr i="0" lang="en-US" sz="1300" u="none" cap="none" strike="noStrike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300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Suárez</a:t>
            </a:r>
            <a:r>
              <a:rPr i="0" lang="en-US" sz="1300" u="none" cap="none" strike="noStrike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— Seminario en Ciencia de Datos I · CAECE 2026</a:t>
            </a:r>
            <a:endParaRPr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548640" y="6446520"/>
            <a:ext cx="8229600" cy="274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DB6BF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 · Banca minorista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